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0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9" r:id="rId11"/>
    <p:sldId id="264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ng Kolhe" userId="859e8abf6002a7cf" providerId="LiveId" clId="{D4EE146E-2816-4990-B1CD-9B7FEEAD54CA}"/>
    <pc:docChg chg="modSld">
      <pc:chgData name="Sarang Kolhe" userId="859e8abf6002a7cf" providerId="LiveId" clId="{D4EE146E-2816-4990-B1CD-9B7FEEAD54CA}" dt="2026-07-07T08:26:59.108" v="0" actId="20577"/>
      <pc:docMkLst>
        <pc:docMk/>
      </pc:docMkLst>
      <pc:sldChg chg="modSp mod">
        <pc:chgData name="Sarang Kolhe" userId="859e8abf6002a7cf" providerId="LiveId" clId="{D4EE146E-2816-4990-B1CD-9B7FEEAD54CA}" dt="2026-07-07T08:26:59.108" v="0" actId="20577"/>
        <pc:sldMkLst>
          <pc:docMk/>
          <pc:sldMk cId="0" sldId="268"/>
        </pc:sldMkLst>
        <pc:spChg chg="mod">
          <ac:chgData name="Sarang Kolhe" userId="859e8abf6002a7cf" providerId="LiveId" clId="{D4EE146E-2816-4990-B1CD-9B7FEEAD54CA}" dt="2026-07-07T08:26:59.108" v="0" actId="20577"/>
          <ac:spMkLst>
            <pc:docMk/>
            <pc:sldMk cId="0" sldId="268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72C79E-F689-491D-8A15-7CB3DE0626D4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9B01FB-3F39-4AEC-9812-78663F35C4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092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9B01FB-3F39-4AEC-9812-78663F35C47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908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9B01FB-3F39-4AEC-9812-78663F35C47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505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95360" y="0"/>
            <a:ext cx="3593592" cy="6858000"/>
          </a:xfrm>
          <a:prstGeom prst="rect">
            <a:avLst/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595360" y="0"/>
            <a:ext cx="50800" cy="6858000"/>
          </a:xfrm>
          <a:prstGeom prst="rect">
            <a:avLst/>
          </a:prstGeom>
          <a:solidFill>
            <a:srgbClr val="FF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235440" y="2651760"/>
            <a:ext cx="566928" cy="566928"/>
          </a:xfrm>
          <a:prstGeom prst="roundRect">
            <a:avLst/>
          </a:prstGeom>
          <a:solidFill>
            <a:srgbClr val="FF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012680" y="2651760"/>
            <a:ext cx="566928" cy="566928"/>
          </a:xfrm>
          <a:prstGeom prst="roundRect">
            <a:avLst/>
          </a:prstGeom>
          <a:solidFill>
            <a:srgbClr val="2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789920" y="2651760"/>
            <a:ext cx="566928" cy="566928"/>
          </a:xfrm>
          <a:prstGeom prst="roundRect">
            <a:avLst/>
          </a:prstGeom>
          <a:solidFill>
            <a:srgbClr val="2F7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371600"/>
            <a:ext cx="822960" cy="63500"/>
          </a:xfrm>
          <a:prstGeom prst="rect">
            <a:avLst/>
          </a:prstGeom>
          <a:solidFill>
            <a:srgbClr val="FF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508759"/>
            <a:ext cx="7498079" cy="1379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5200" b="1" dirty="0">
                <a:solidFill>
                  <a:srgbClr val="FFFFFF"/>
                </a:solidFill>
                <a:latin typeface="Segoe UI"/>
              </a:rPr>
              <a:t>Paymentology</a:t>
            </a:r>
          </a:p>
          <a:p>
            <a:r>
              <a:rPr lang="en-IN" b="1" dirty="0">
                <a:solidFill>
                  <a:srgbClr val="FFFFFF"/>
                </a:solidFill>
                <a:latin typeface="Segoe UI"/>
              </a:rPr>
              <a:t>AWS Cloud Infrastructure Demo - Project (Terraform &amp; GitHub Actions)</a:t>
            </a:r>
            <a:endParaRPr b="1" dirty="0">
              <a:solidFill>
                <a:srgbClr val="FFFFF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F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19456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9A00"/>
                </a:solidFill>
                <a:latin typeface="Segoe U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What We'll 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>
                <a:solidFill>
                  <a:srgbClr val="9CA9BD"/>
                </a:solidFill>
                <a:latin typeface="Segoe UI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31520" y="1792224"/>
            <a:ext cx="566928" cy="566928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9A00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728216"/>
            <a:ext cx="4389120" cy="4257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en-IN" sz="1500" b="1" dirty="0">
                <a:solidFill>
                  <a:srgbClr val="0B1F3A"/>
                </a:solidFill>
                <a:latin typeface="Segoe UI"/>
              </a:rPr>
              <a:t>Project</a:t>
            </a:r>
            <a:r>
              <a:rPr sz="1500" b="1" dirty="0">
                <a:solidFill>
                  <a:srgbClr val="0B1F3A"/>
                </a:solidFill>
                <a:latin typeface="Segoe UI"/>
              </a:rPr>
              <a:t> Summary</a:t>
            </a:r>
          </a:p>
          <a:p>
            <a:pPr algn="l">
              <a:lnSpc>
                <a:spcPct val="100000"/>
              </a:lnSpc>
            </a:pPr>
            <a:r>
              <a:rPr lang="en-IN" sz="1100" dirty="0">
                <a:solidFill>
                  <a:srgbClr val="475569"/>
                </a:solidFill>
                <a:latin typeface="Segoe UI"/>
              </a:rPr>
              <a:t>Requirement </a:t>
            </a:r>
            <a:r>
              <a:rPr sz="1100" b="0" dirty="0">
                <a:solidFill>
                  <a:srgbClr val="475569"/>
                </a:solidFill>
                <a:latin typeface="Segoe UI"/>
              </a:rPr>
              <a:t>and what delivered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54480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355080" y="1792224"/>
            <a:ext cx="566928" cy="566928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9A00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728216"/>
            <a:ext cx="4389120" cy="4257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dirty="0">
                <a:solidFill>
                  <a:srgbClr val="0B1F3A"/>
                </a:solidFill>
                <a:latin typeface="Segoe UI"/>
              </a:rPr>
              <a:t>Architecture</a:t>
            </a:r>
            <a:r>
              <a:rPr lang="en-IN" sz="1500" b="1" dirty="0">
                <a:solidFill>
                  <a:srgbClr val="0B1F3A"/>
                </a:solidFill>
                <a:latin typeface="Segoe UI"/>
              </a:rPr>
              <a:t> Overview</a:t>
            </a:r>
            <a:endParaRPr sz="1500" b="1" dirty="0">
              <a:solidFill>
                <a:srgbClr val="0B1F3A"/>
              </a:solidFill>
              <a:latin typeface="Segoe UI"/>
            </a:endParaRPr>
          </a:p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475569"/>
                </a:solidFill>
                <a:latin typeface="Segoe UI"/>
              </a:rPr>
              <a:t>How traffic flows across the AWS stack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70632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31520" y="3008376"/>
            <a:ext cx="566928" cy="566928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9A00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944368"/>
            <a:ext cx="4389120" cy="595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IN" sz="1500" b="1" dirty="0">
                <a:solidFill>
                  <a:srgbClr val="0B1F3A"/>
                </a:solidFill>
                <a:latin typeface="Segoe UI"/>
              </a:rPr>
              <a:t>Terraform </a:t>
            </a:r>
            <a:r>
              <a:rPr sz="1500" b="1" dirty="0">
                <a:solidFill>
                  <a:srgbClr val="0B1F3A"/>
                </a:solidFill>
                <a:latin typeface="Segoe UI"/>
              </a:rPr>
              <a:t>Modular </a:t>
            </a:r>
            <a:r>
              <a:rPr lang="en-IN" sz="1500" b="1" dirty="0">
                <a:solidFill>
                  <a:srgbClr val="0B1F3A"/>
                </a:solidFill>
                <a:latin typeface="Segoe UI"/>
              </a:rPr>
              <a:t>&amp; Workspace </a:t>
            </a:r>
            <a:r>
              <a:rPr sz="1500" b="1" dirty="0">
                <a:solidFill>
                  <a:srgbClr val="0B1F3A"/>
                </a:solidFill>
                <a:latin typeface="Segoe UI"/>
              </a:rPr>
              <a:t>Design</a:t>
            </a:r>
          </a:p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475569"/>
                </a:solidFill>
                <a:latin typeface="Segoe UI"/>
              </a:rPr>
              <a:t>Nine reusable Terraform modules</a:t>
            </a:r>
            <a:br>
              <a:rPr lang="en-IN" sz="1100" b="0" dirty="0">
                <a:solidFill>
                  <a:srgbClr val="475569"/>
                </a:solidFill>
                <a:latin typeface="Segoe UI"/>
              </a:rPr>
            </a:br>
            <a:r>
              <a:rPr lang="en-IN" sz="1100" b="0" dirty="0">
                <a:solidFill>
                  <a:srgbClr val="475569"/>
                </a:solidFill>
                <a:latin typeface="Segoe UI"/>
              </a:rPr>
              <a:t>Two Terraform workspace environments</a:t>
            </a:r>
            <a:endParaRPr sz="1100" b="0" dirty="0">
              <a:solidFill>
                <a:srgbClr val="475569"/>
              </a:solidFill>
              <a:latin typeface="Segoe U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72200" y="2770632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355080" y="3008376"/>
            <a:ext cx="566928" cy="566928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9A00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944368"/>
            <a:ext cx="4389120" cy="4257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dirty="0">
                <a:solidFill>
                  <a:srgbClr val="0B1F3A"/>
                </a:solidFill>
                <a:latin typeface="Segoe UI"/>
              </a:rPr>
              <a:t>Environments</a:t>
            </a:r>
          </a:p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475569"/>
                </a:solidFill>
                <a:latin typeface="Segoe UI"/>
              </a:rPr>
              <a:t>Dev and Prod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86784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31520" y="4224528"/>
            <a:ext cx="566928" cy="566928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9A00"/>
                </a:solidFill>
                <a:latin typeface="Segoe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16052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dirty="0">
                <a:solidFill>
                  <a:srgbClr val="0B1F3A"/>
                </a:solidFill>
                <a:latin typeface="Segoe UI"/>
              </a:rPr>
              <a:t>Security &amp; High Availability</a:t>
            </a:r>
          </a:p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475569"/>
                </a:solidFill>
                <a:latin typeface="Segoe UI"/>
              </a:rPr>
              <a:t>Defense-in-depth and high availability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986784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355080" y="4224528"/>
            <a:ext cx="566928" cy="566928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9A00"/>
                </a:solidFill>
                <a:latin typeface="Segoe U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16052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1F3A"/>
                </a:solidFill>
                <a:latin typeface="Segoe UI"/>
              </a:rPr>
              <a:t>Monitoring &amp; Alerts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569"/>
                </a:solidFill>
                <a:latin typeface="Segoe UI"/>
              </a:rPr>
              <a:t>CloudWatch, SNS and observability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202936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31520" y="5440680"/>
            <a:ext cx="566928" cy="566928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9A00"/>
                </a:solidFill>
                <a:latin typeface="Segoe U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376672"/>
            <a:ext cx="4389120" cy="4257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dirty="0">
                <a:solidFill>
                  <a:srgbClr val="0B1F3A"/>
                </a:solidFill>
                <a:latin typeface="Segoe UI"/>
              </a:rPr>
              <a:t>Automation (CI/CD)</a:t>
            </a:r>
          </a:p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475569"/>
                </a:solidFill>
                <a:latin typeface="Segoe UI"/>
              </a:rPr>
              <a:t>GitHub Actions delivery pipeline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5202936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355080" y="5440680"/>
            <a:ext cx="566928" cy="566928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9A00"/>
                </a:solidFill>
                <a:latin typeface="Segoe U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5376672"/>
            <a:ext cx="4389120" cy="4257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en-IN" sz="1500" b="1" dirty="0">
                <a:solidFill>
                  <a:srgbClr val="0B1F3A"/>
                </a:solidFill>
                <a:latin typeface="Segoe UI"/>
              </a:rPr>
              <a:t>Results</a:t>
            </a:r>
            <a:endParaRPr sz="1500" b="1" dirty="0">
              <a:solidFill>
                <a:srgbClr val="0B1F3A"/>
              </a:solidFill>
              <a:latin typeface="Segoe UI"/>
            </a:endParaRPr>
          </a:p>
          <a:p>
            <a:pPr algn="l">
              <a:lnSpc>
                <a:spcPct val="100000"/>
              </a:lnSpc>
            </a:pPr>
            <a:r>
              <a:rPr lang="en-IN" sz="1100" b="0" dirty="0">
                <a:solidFill>
                  <a:srgbClr val="475569"/>
                </a:solidFill>
                <a:latin typeface="Segoe UI"/>
              </a:rPr>
              <a:t>What Gets Delivered</a:t>
            </a:r>
            <a:endParaRPr sz="1100" b="0" dirty="0">
              <a:solidFill>
                <a:srgbClr val="475569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F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19456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9A00"/>
                </a:solidFill>
                <a:latin typeface="Segoe UI"/>
              </a:rPr>
              <a:t>THE BIG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00584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2600" b="1" dirty="0">
                <a:solidFill>
                  <a:srgbClr val="FFFFFF"/>
                </a:solidFill>
                <a:latin typeface="Segoe UI"/>
              </a:rPr>
              <a:t>Project</a:t>
            </a:r>
            <a:r>
              <a:rPr sz="2600" b="1" dirty="0">
                <a:solidFill>
                  <a:srgbClr val="FFFFFF"/>
                </a:solidFill>
                <a:latin typeface="Segoe UI"/>
              </a:rPr>
              <a:t>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>
                <a:solidFill>
                  <a:srgbClr val="9CA9BD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64240" cy="5107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IN" sz="1450" dirty="0">
                <a:solidFill>
                  <a:srgbClr val="475569"/>
                </a:solidFill>
                <a:latin typeface="Segoe UI"/>
              </a:rPr>
              <a:t>I</a:t>
            </a:r>
            <a:r>
              <a:rPr sz="1450" b="0" dirty="0">
                <a:solidFill>
                  <a:srgbClr val="475569"/>
                </a:solidFill>
                <a:latin typeface="Segoe UI"/>
              </a:rPr>
              <a:t> built a production-grade AWS environment for the </a:t>
            </a:r>
            <a:r>
              <a:rPr lang="en-IN" sz="1450" b="0" dirty="0">
                <a:solidFill>
                  <a:srgbClr val="475569"/>
                </a:solidFill>
                <a:latin typeface="Segoe UI"/>
              </a:rPr>
              <a:t>Demo-Project</a:t>
            </a:r>
            <a:r>
              <a:rPr sz="1450" b="0" dirty="0">
                <a:solidFill>
                  <a:srgbClr val="475569"/>
                </a:solidFill>
                <a:latin typeface="Segoe UI"/>
              </a:rPr>
              <a:t> web application — fully automated, secure by design, and repeatable across environments. Every resource is codified in Terraform, versioned in Git, and deployed through an approval-gated pipeline.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2651760" cy="141732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514600"/>
            <a:ext cx="2651760" cy="63500"/>
          </a:xfrm>
          <a:prstGeom prst="rect">
            <a:avLst/>
          </a:prstGeom>
          <a:solidFill>
            <a:srgbClr val="FF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734056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>
                <a:solidFill>
                  <a:srgbClr val="FF9A00"/>
                </a:solidFill>
                <a:latin typeface="Segoe UI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47288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Segoe UI"/>
              </a:rPr>
              <a:t>Reusable Terraform modules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2514600"/>
            <a:ext cx="2651760" cy="141732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55848" y="2514600"/>
            <a:ext cx="2651760" cy="63500"/>
          </a:xfrm>
          <a:prstGeom prst="rect">
            <a:avLst/>
          </a:prstGeom>
          <a:solidFill>
            <a:srgbClr val="2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55848" y="2734056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>
                <a:solidFill>
                  <a:srgbClr val="24B47E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3447288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Segoe UI"/>
              </a:rPr>
              <a:t>Environments (Dev + Prod)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2514600"/>
            <a:ext cx="2651760" cy="141732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63056" y="2514600"/>
            <a:ext cx="2651760" cy="63500"/>
          </a:xfrm>
          <a:prstGeom prst="rect">
            <a:avLst/>
          </a:prstGeom>
          <a:solidFill>
            <a:srgbClr val="2F7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63056" y="2734056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>
                <a:solidFill>
                  <a:srgbClr val="2F7BE0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6" y="3447288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Segoe UI"/>
              </a:rPr>
              <a:t>Availability Zones in Production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0264" y="2514600"/>
            <a:ext cx="2651760" cy="141732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70264" y="2514600"/>
            <a:ext cx="2651760" cy="63500"/>
          </a:xfrm>
          <a:prstGeom prst="rect">
            <a:avLst/>
          </a:prstGeom>
          <a:solidFill>
            <a:srgbClr val="E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70264" y="2734056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>
                <a:solidFill>
                  <a:srgbClr val="E87A00"/>
                </a:solidFill>
                <a:latin typeface="Segoe UI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0264" y="3447288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Segoe UI"/>
              </a:rPr>
              <a:t>Infrastructure as Code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2062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4206240"/>
            <a:ext cx="82296" cy="1828800"/>
          </a:xfrm>
          <a:prstGeom prst="rect">
            <a:avLst/>
          </a:prstGeom>
          <a:solidFill>
            <a:srgbClr val="FF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" y="4370832"/>
            <a:ext cx="3200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Segoe UI"/>
              </a:rPr>
              <a:t>Faster, Safer Delivery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Consistent deployments in minutes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Peer-reviewed changes via pull requests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Approval gates before any apply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42062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97680" y="4206240"/>
            <a:ext cx="82296" cy="1828800"/>
          </a:xfrm>
          <a:prstGeom prst="rect">
            <a:avLst/>
          </a:prstGeom>
          <a:solidFill>
            <a:srgbClr val="2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53712" y="4370832"/>
            <a:ext cx="3200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0B1F3A"/>
                </a:solidFill>
                <a:latin typeface="Segoe UI"/>
              </a:rPr>
              <a:t>Secure by Design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dirty="0">
                <a:solidFill>
                  <a:srgbClr val="475569"/>
                </a:solidFill>
                <a:latin typeface="Segoe UI"/>
              </a:rPr>
              <a:t>WAF at edge and regional layers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dirty="0">
                <a:solidFill>
                  <a:srgbClr val="475569"/>
                </a:solidFill>
                <a:latin typeface="Segoe UI"/>
              </a:rPr>
              <a:t>Private compute, no public IPs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dirty="0">
                <a:solidFill>
                  <a:srgbClr val="475569"/>
                </a:solidFill>
                <a:latin typeface="Segoe UI"/>
              </a:rPr>
              <a:t>HTTPS/TLS termination at the ALB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42062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46720" y="4206240"/>
            <a:ext cx="82296" cy="1828800"/>
          </a:xfrm>
          <a:prstGeom prst="rect">
            <a:avLst/>
          </a:prstGeom>
          <a:solidFill>
            <a:srgbClr val="2F7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02752" y="4370832"/>
            <a:ext cx="31546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Segoe UI"/>
              </a:rPr>
              <a:t>Resilient &amp; Scalable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Multi-AZ high availability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Auto Scaling web tier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CloudFront CDN for global reach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F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19456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9A00"/>
                </a:solidFill>
                <a:latin typeface="Segoe U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Architecture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>
                <a:solidFill>
                  <a:srgbClr val="9CA9BD"/>
                </a:solidFill>
                <a:latin typeface="Segoe U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Segoe UI"/>
              </a:rPr>
              <a:t>Layered, defense-in-depth design — traffic enters at the edge and is funneled to private compute through multiple protected tiers.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65960"/>
            <a:ext cx="10515600" cy="786384"/>
          </a:xfrm>
          <a:prstGeom prst="roundRect">
            <a:avLst>
              <a:gd name="adj" fmla="val 8000"/>
            </a:avLst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965960"/>
            <a:ext cx="109728" cy="786384"/>
          </a:xfrm>
          <a:prstGeom prst="rect">
            <a:avLst/>
          </a:prstGeom>
          <a:solidFill>
            <a:srgbClr val="9CA9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2084832"/>
            <a:ext cx="1005840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USERS / INTERNET</a:t>
            </a:r>
          </a:p>
          <a:p>
            <a:pPr algn="l"/>
            <a:r>
              <a:rPr sz="1050" b="0">
                <a:solidFill>
                  <a:srgbClr val="9CA9BD"/>
                </a:solidFill>
                <a:latin typeface="Segoe UI"/>
              </a:rPr>
              <a:t>End users and API clients over HTTPS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73405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FF9A00"/>
                </a:solidFill>
                <a:latin typeface="Segoe UI"/>
              </a:rP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862072"/>
            <a:ext cx="10515600" cy="786384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" y="2862072"/>
            <a:ext cx="109728" cy="786384"/>
          </a:xfrm>
          <a:prstGeom prst="rect">
            <a:avLst/>
          </a:prstGeom>
          <a:solidFill>
            <a:srgbClr val="FF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2980944"/>
            <a:ext cx="10058400" cy="389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dirty="0">
                <a:solidFill>
                  <a:srgbClr val="FFFFFF"/>
                </a:solidFill>
                <a:latin typeface="Segoe UI"/>
              </a:rPr>
              <a:t>EDGE  ·  CloudFront + WAF  ·  API Gateway</a:t>
            </a:r>
            <a:r>
              <a:rPr lang="en-IN" sz="1400" b="1" dirty="0">
                <a:solidFill>
                  <a:srgbClr val="FFFFFF"/>
                </a:solidFill>
                <a:latin typeface="Segoe UI"/>
              </a:rPr>
              <a:t> + Regional WAF</a:t>
            </a:r>
            <a:endParaRPr sz="1400" b="1" dirty="0">
              <a:solidFill>
                <a:srgbClr val="FFFFFF"/>
              </a:solidFill>
              <a:latin typeface="Segoe UI"/>
            </a:endParaRPr>
          </a:p>
          <a:p>
            <a:pPr algn="l"/>
            <a:r>
              <a:rPr sz="1050" b="0" dirty="0">
                <a:solidFill>
                  <a:srgbClr val="9CA9BD"/>
                </a:solidFill>
                <a:latin typeface="Segoe UI"/>
              </a:rPr>
              <a:t>Global CDN, managed WAF rules, REST proxy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63016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FF9A00"/>
                </a:solidFill>
                <a:latin typeface="Segoe U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58184"/>
            <a:ext cx="10515600" cy="786384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" y="3758184"/>
            <a:ext cx="109728" cy="786384"/>
          </a:xfrm>
          <a:prstGeom prst="rect">
            <a:avLst/>
          </a:prstGeom>
          <a:solidFill>
            <a:srgbClr val="2F7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3877056"/>
            <a:ext cx="10058400" cy="389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dirty="0">
                <a:solidFill>
                  <a:srgbClr val="FFFFFF"/>
                </a:solidFill>
                <a:latin typeface="Segoe UI"/>
              </a:rPr>
              <a:t>PUBLIC SUBNETS  ·  Application Load Balancer + Regional WAF</a:t>
            </a:r>
          </a:p>
          <a:p>
            <a:pPr algn="l"/>
            <a:r>
              <a:rPr sz="1050" b="0" dirty="0">
                <a:solidFill>
                  <a:srgbClr val="9CA9BD"/>
                </a:solidFill>
                <a:latin typeface="Segoe UI"/>
              </a:rPr>
              <a:t>TLS termination, health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45262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FF9A00"/>
                </a:solidFill>
                <a:latin typeface="Segoe UI"/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654296"/>
            <a:ext cx="10515600" cy="786384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" y="4654296"/>
            <a:ext cx="109728" cy="786384"/>
          </a:xfrm>
          <a:prstGeom prst="rect">
            <a:avLst/>
          </a:prstGeom>
          <a:solidFill>
            <a:srgbClr val="2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3000" y="4773168"/>
            <a:ext cx="10058400" cy="389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dirty="0">
                <a:solidFill>
                  <a:srgbClr val="FFFFFF"/>
                </a:solidFill>
                <a:latin typeface="Segoe UI"/>
              </a:rPr>
              <a:t>PRIVATE SUBNETS  ·  Auto Scaling Group (EC2)</a:t>
            </a:r>
          </a:p>
          <a:p>
            <a:pPr algn="l"/>
            <a:r>
              <a:rPr sz="1050" b="0" dirty="0">
                <a:solidFill>
                  <a:srgbClr val="9CA9BD"/>
                </a:solidFill>
                <a:latin typeface="Segoe UI"/>
              </a:rPr>
              <a:t>no public IP addresses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542239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FF9A00"/>
                </a:solidFill>
                <a:latin typeface="Segoe UI"/>
              </a:rPr>
              <a:t>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550408"/>
            <a:ext cx="10515600" cy="786384"/>
          </a:xfrm>
          <a:prstGeom prst="roundRect">
            <a:avLst>
              <a:gd name="adj" fmla="val 8000"/>
            </a:avLst>
          </a:prstGeom>
          <a:solidFill>
            <a:srgbClr val="13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" y="5550408"/>
            <a:ext cx="109728" cy="786384"/>
          </a:xfrm>
          <a:prstGeom prst="rect">
            <a:avLst/>
          </a:prstGeom>
          <a:solidFill>
            <a:srgbClr val="9CA9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43000" y="5669280"/>
            <a:ext cx="10058400" cy="389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dirty="0">
                <a:solidFill>
                  <a:srgbClr val="FFFFFF"/>
                </a:solidFill>
                <a:latin typeface="Segoe UI"/>
              </a:rPr>
              <a:t>DATABASE SUBNETS (reserved) </a:t>
            </a:r>
          </a:p>
          <a:p>
            <a:pPr algn="l"/>
            <a:r>
              <a:rPr sz="1050" b="0" dirty="0">
                <a:solidFill>
                  <a:srgbClr val="9CA9BD"/>
                </a:solidFill>
                <a:latin typeface="Segoe UI"/>
              </a:rPr>
              <a:t>Isolated tier for future RDS workloads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F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19456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9A00"/>
                </a:solidFill>
                <a:latin typeface="Segoe UI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Inbound Traffic — Three Secure Paths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>
                <a:solidFill>
                  <a:srgbClr val="9CA9BD"/>
                </a:solidFill>
                <a:latin typeface="Segoe U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61188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3611880" cy="566928"/>
          </a:xfrm>
          <a:prstGeom prst="roundRect">
            <a:avLst>
              <a:gd name="adj" fmla="val 12000"/>
            </a:avLst>
          </a:prstGeom>
          <a:solidFill>
            <a:srgbClr val="FF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837944"/>
            <a:ext cx="3611880" cy="283464"/>
          </a:xfrm>
          <a:prstGeom prst="rect">
            <a:avLst/>
          </a:prstGeom>
          <a:solidFill>
            <a:srgbClr val="FF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673352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Path 1 · CloudFront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2304288"/>
            <a:ext cx="3099816" cy="457200"/>
          </a:xfrm>
          <a:prstGeom prst="roundRect">
            <a:avLst>
              <a:gd name="adj" fmla="val 18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395728"/>
            <a:ext cx="30998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0B1F3A"/>
                </a:solidFill>
                <a:latin typeface="Segoe UI"/>
              </a:rPr>
              <a:t>Internet (HTTPS)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24912"/>
            <a:ext cx="3611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FF9A00"/>
                </a:solidFill>
                <a:latin typeface="Segoe UI"/>
              </a:rP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" y="2926080"/>
            <a:ext cx="3099816" cy="457200"/>
          </a:xfrm>
          <a:prstGeom prst="roundRect">
            <a:avLst>
              <a:gd name="adj" fmla="val 18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017520"/>
            <a:ext cx="30998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0B1F3A"/>
                </a:solidFill>
                <a:latin typeface="Segoe UI"/>
              </a:rPr>
              <a:t>CloudFront edge + WAF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346704"/>
            <a:ext cx="3611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FF9A00"/>
                </a:solidFill>
                <a:latin typeface="Segoe UI"/>
              </a:rPr>
              <a:t>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" y="3547872"/>
            <a:ext cx="3099816" cy="457200"/>
          </a:xfrm>
          <a:prstGeom prst="roundRect">
            <a:avLst>
              <a:gd name="adj" fmla="val 18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3639312"/>
            <a:ext cx="30998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0B1F3A"/>
                </a:solidFill>
                <a:latin typeface="Segoe UI"/>
              </a:rPr>
              <a:t>ALB (public subnets)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68496"/>
            <a:ext cx="3611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FF9A00"/>
                </a:solidFill>
                <a:latin typeface="Segoe UI"/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" y="4169664"/>
            <a:ext cx="3099816" cy="457200"/>
          </a:xfrm>
          <a:prstGeom prst="roundRect">
            <a:avLst>
              <a:gd name="adj" fmla="val 18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" y="4261104"/>
            <a:ext cx="309981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100" b="0" dirty="0">
                <a:solidFill>
                  <a:srgbClr val="0B1F3A"/>
                </a:solidFill>
                <a:latin typeface="Segoe UI"/>
              </a:rPr>
              <a:t>Regional </a:t>
            </a:r>
            <a:r>
              <a:rPr sz="1100" b="0" dirty="0">
                <a:solidFill>
                  <a:srgbClr val="0B1F3A"/>
                </a:solidFill>
                <a:latin typeface="Segoe UI"/>
              </a:rPr>
              <a:t>WAF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90288"/>
            <a:ext cx="3611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FF9A00"/>
                </a:solidFill>
                <a:latin typeface="Segoe UI"/>
              </a:rPr>
              <a:t>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" y="4791456"/>
            <a:ext cx="3099816" cy="457200"/>
          </a:xfrm>
          <a:prstGeom prst="roundRect">
            <a:avLst>
              <a:gd name="adj" fmla="val 18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4882896"/>
            <a:ext cx="30998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0B1F3A"/>
                </a:solidFill>
                <a:latin typeface="Segoe UI"/>
              </a:rPr>
              <a:t>Target group :80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212080"/>
            <a:ext cx="3611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FF9A00"/>
                </a:solidFill>
                <a:latin typeface="Segoe UI"/>
              </a:rP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" y="5413248"/>
            <a:ext cx="3099816" cy="457200"/>
          </a:xfrm>
          <a:prstGeom prst="roundRect">
            <a:avLst>
              <a:gd name="adj" fmla="val 18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5504688"/>
            <a:ext cx="30998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0B1F3A"/>
                </a:solidFill>
                <a:latin typeface="Segoe UI"/>
              </a:rPr>
              <a:t>EC2 (private subnet)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1554480"/>
            <a:ext cx="361188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297680" y="1554480"/>
            <a:ext cx="3611880" cy="566928"/>
          </a:xfrm>
          <a:prstGeom prst="roundRect">
            <a:avLst>
              <a:gd name="adj" fmla="val 12000"/>
            </a:avLst>
          </a:prstGeom>
          <a:solidFill>
            <a:srgbClr val="2F7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97680" y="1837944"/>
            <a:ext cx="3611880" cy="283464"/>
          </a:xfrm>
          <a:prstGeom prst="rect">
            <a:avLst/>
          </a:prstGeom>
          <a:solidFill>
            <a:srgbClr val="2F7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97680" y="1673352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Path 2 · Direct ALB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53712" y="2304288"/>
            <a:ext cx="3099816" cy="457200"/>
          </a:xfrm>
          <a:prstGeom prst="roundRect">
            <a:avLst>
              <a:gd name="adj" fmla="val 18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53712" y="2395728"/>
            <a:ext cx="30998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0B1F3A"/>
                </a:solidFill>
                <a:latin typeface="Segoe UI"/>
              </a:rPr>
              <a:t>Internet (HTTPS :443)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2724912"/>
            <a:ext cx="3611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2F7BE0"/>
                </a:solidFill>
                <a:latin typeface="Segoe UI"/>
              </a:rPr>
              <a:t>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53712" y="2926080"/>
            <a:ext cx="3099816" cy="457200"/>
          </a:xfrm>
          <a:prstGeom prst="roundRect">
            <a:avLst>
              <a:gd name="adj" fmla="val 18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53712" y="3017520"/>
            <a:ext cx="30998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0B1F3A"/>
                </a:solidFill>
                <a:latin typeface="Segoe UI"/>
              </a:rPr>
              <a:t>ALB (public subnets)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3346704"/>
            <a:ext cx="3611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2F7BE0"/>
                </a:solidFill>
                <a:latin typeface="Segoe UI"/>
              </a:rPr>
              <a:t>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53712" y="3547872"/>
            <a:ext cx="3099816" cy="457200"/>
          </a:xfrm>
          <a:prstGeom prst="roundRect">
            <a:avLst>
              <a:gd name="adj" fmla="val 18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53712" y="3639312"/>
            <a:ext cx="309981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100" b="0" dirty="0">
                <a:solidFill>
                  <a:srgbClr val="0B1F3A"/>
                </a:solidFill>
                <a:latin typeface="Segoe UI"/>
              </a:rPr>
              <a:t>Regional </a:t>
            </a:r>
            <a:r>
              <a:rPr sz="1100" b="0" dirty="0">
                <a:solidFill>
                  <a:srgbClr val="0B1F3A"/>
                </a:solidFill>
                <a:latin typeface="Segoe UI"/>
              </a:rPr>
              <a:t>WAF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3968496"/>
            <a:ext cx="3611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2F7BE0"/>
                </a:solidFill>
                <a:latin typeface="Segoe UI"/>
              </a:rPr>
              <a:t>▼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53712" y="4169664"/>
            <a:ext cx="3099816" cy="457200"/>
          </a:xfrm>
          <a:prstGeom prst="roundRect">
            <a:avLst>
              <a:gd name="adj" fmla="val 18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53712" y="4261104"/>
            <a:ext cx="30998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0B1F3A"/>
                </a:solidFill>
                <a:latin typeface="Segoe UI"/>
              </a:rPr>
              <a:t>Target group :80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4590288"/>
            <a:ext cx="3611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2F7BE0"/>
                </a:solidFill>
                <a:latin typeface="Segoe UI"/>
              </a:rPr>
              <a:t>▼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53712" y="4791456"/>
            <a:ext cx="3099816" cy="457200"/>
          </a:xfrm>
          <a:prstGeom prst="roundRect">
            <a:avLst>
              <a:gd name="adj" fmla="val 18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53712" y="4882896"/>
            <a:ext cx="30998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0B1F3A"/>
                </a:solidFill>
                <a:latin typeface="Segoe UI"/>
              </a:rPr>
              <a:t>EC2 (private subnet)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6720" y="1554480"/>
            <a:ext cx="361188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046720" y="1554480"/>
            <a:ext cx="3611880" cy="566928"/>
          </a:xfrm>
          <a:prstGeom prst="roundRect">
            <a:avLst>
              <a:gd name="adj" fmla="val 12000"/>
            </a:avLst>
          </a:prstGeom>
          <a:solidFill>
            <a:srgbClr val="2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046720" y="1837944"/>
            <a:ext cx="3611880" cy="283464"/>
          </a:xfrm>
          <a:prstGeom prst="rect">
            <a:avLst/>
          </a:prstGeom>
          <a:solidFill>
            <a:srgbClr val="2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046720" y="1673352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Path 3 · API Gateway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02752" y="2304288"/>
            <a:ext cx="3099816" cy="457200"/>
          </a:xfrm>
          <a:prstGeom prst="roundRect">
            <a:avLst>
              <a:gd name="adj" fmla="val 18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02752" y="2395728"/>
            <a:ext cx="30998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0B1F3A"/>
                </a:solidFill>
                <a:latin typeface="Segoe UI"/>
              </a:rPr>
              <a:t>Internet (HTTPS)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20" y="2724912"/>
            <a:ext cx="3611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24B47E"/>
                </a:solidFill>
                <a:latin typeface="Segoe UI"/>
              </a:rPr>
              <a:t>▼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02752" y="2926080"/>
            <a:ext cx="3099816" cy="457200"/>
          </a:xfrm>
          <a:prstGeom prst="roundRect">
            <a:avLst>
              <a:gd name="adj" fmla="val 18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302752" y="3017520"/>
            <a:ext cx="30998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0B1F3A"/>
                </a:solidFill>
                <a:latin typeface="Segoe UI"/>
              </a:rPr>
              <a:t>API Gateway (REST)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46720" y="3346704"/>
            <a:ext cx="3611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24B47E"/>
                </a:solidFill>
                <a:latin typeface="Segoe UI"/>
              </a:rPr>
              <a:t>▼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02752" y="3547872"/>
            <a:ext cx="3099816" cy="457200"/>
          </a:xfrm>
          <a:prstGeom prst="roundRect">
            <a:avLst>
              <a:gd name="adj" fmla="val 18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02752" y="3639312"/>
            <a:ext cx="30998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0B1F3A"/>
                </a:solidFill>
                <a:latin typeface="Segoe UI"/>
              </a:rPr>
              <a:t>HTTP proxy → ALB DNS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20" y="3968496"/>
            <a:ext cx="3611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24B47E"/>
                </a:solidFill>
                <a:latin typeface="Segoe UI"/>
              </a:rPr>
              <a:t>▼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302752" y="4169664"/>
            <a:ext cx="3099816" cy="457200"/>
          </a:xfrm>
          <a:prstGeom prst="roundRect">
            <a:avLst>
              <a:gd name="adj" fmla="val 18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302752" y="4261104"/>
            <a:ext cx="30998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0B1F3A"/>
                </a:solidFill>
                <a:latin typeface="Segoe UI"/>
              </a:rPr>
              <a:t>Target group :80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20" y="4590288"/>
            <a:ext cx="3611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24B47E"/>
                </a:solidFill>
                <a:latin typeface="Segoe UI"/>
              </a:rPr>
              <a:t>▼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302752" y="4791456"/>
            <a:ext cx="3099816" cy="457200"/>
          </a:xfrm>
          <a:prstGeom prst="roundRect">
            <a:avLst>
              <a:gd name="adj" fmla="val 18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302752" y="4882896"/>
            <a:ext cx="30998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0B1F3A"/>
                </a:solidFill>
                <a:latin typeface="Segoe UI"/>
              </a:rPr>
              <a:t>EC2 (private subnet)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F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19456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9A00"/>
                </a:solidFill>
                <a:latin typeface="Segoe UI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Outbound &amp; Internal Traffic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>
                <a:solidFill>
                  <a:srgbClr val="9CA9BD"/>
                </a:solidFill>
                <a:latin typeface="Segoe U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475569"/>
                </a:solidFill>
                <a:latin typeface="Segoe UI"/>
              </a:rPr>
              <a:t>Private instances reach the internet only through managed </a:t>
            </a:r>
            <a:r>
              <a:rPr lang="en-IN" sz="1300" b="0" dirty="0">
                <a:solidFill>
                  <a:srgbClr val="475569"/>
                </a:solidFill>
                <a:latin typeface="Segoe UI"/>
              </a:rPr>
              <a:t>regional </a:t>
            </a:r>
            <a:r>
              <a:rPr sz="1300" b="0" dirty="0">
                <a:solidFill>
                  <a:srgbClr val="475569"/>
                </a:solidFill>
                <a:latin typeface="Segoe UI"/>
              </a:rPr>
              <a:t>NAT </a:t>
            </a:r>
            <a:r>
              <a:rPr lang="en-IN" sz="1300" b="0" dirty="0">
                <a:solidFill>
                  <a:srgbClr val="475569"/>
                </a:solidFill>
                <a:latin typeface="Segoe UI"/>
              </a:rPr>
              <a:t>GW. </a:t>
            </a:r>
            <a:r>
              <a:rPr sz="1300" b="0" dirty="0">
                <a:solidFill>
                  <a:srgbClr val="475569"/>
                </a:solidFill>
                <a:latin typeface="Segoe UI"/>
              </a:rPr>
              <a:t>Monitoring flows stay inside AWS.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48840"/>
            <a:ext cx="1737360" cy="7772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EC2 (private)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7712" y="2350008"/>
            <a:ext cx="146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9A00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95728" y="2148840"/>
            <a:ext cx="1737360" cy="7772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95728" y="233172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Web SG egress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350008"/>
            <a:ext cx="146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9A00"/>
                </a:solidFill>
                <a:latin typeface="Segoe U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42816" y="2148840"/>
            <a:ext cx="1737360" cy="7772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42816" y="233172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Private route 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2350008"/>
            <a:ext cx="146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9A00"/>
                </a:solidFill>
                <a:latin typeface="Segoe U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9904" y="2148840"/>
            <a:ext cx="1737360" cy="7772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89904" y="2331720"/>
            <a:ext cx="17373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1100" b="1" dirty="0">
                <a:solidFill>
                  <a:srgbClr val="FFFFFF"/>
                </a:solidFill>
                <a:latin typeface="Segoe UI"/>
              </a:rPr>
              <a:t>Regional </a:t>
            </a:r>
            <a:r>
              <a:rPr sz="1100" b="1" dirty="0">
                <a:solidFill>
                  <a:srgbClr val="FFFFFF"/>
                </a:solidFill>
                <a:latin typeface="Segoe UI"/>
              </a:rPr>
              <a:t>NAT Gateway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08976" y="2350008"/>
            <a:ext cx="146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9A00"/>
                </a:solidFill>
                <a:latin typeface="Segoe U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36992" y="2148840"/>
            <a:ext cx="1737360" cy="7772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36992" y="233172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Internet Gateway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6064" y="2350008"/>
            <a:ext cx="146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9A00"/>
                </a:solidFill>
                <a:latin typeface="Segoe UI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2148840"/>
            <a:ext cx="1737360" cy="7772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84080" y="233172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Internet / AWS APIs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383280"/>
            <a:ext cx="548640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3383280"/>
            <a:ext cx="82296" cy="2606040"/>
          </a:xfrm>
          <a:prstGeom prst="rect">
            <a:avLst/>
          </a:prstGeom>
          <a:solidFill>
            <a:srgbClr val="FF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3547872"/>
            <a:ext cx="5074920" cy="7048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0B1F3A"/>
                </a:solidFill>
                <a:latin typeface="Segoe UI"/>
              </a:rPr>
              <a:t>Typical Outbound Uses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dirty="0">
                <a:solidFill>
                  <a:srgbClr val="475569"/>
                </a:solidFill>
                <a:latin typeface="Segoe UI"/>
              </a:rPr>
              <a:t>OS &amp; package updates from Amazon Linux repos (boot-time </a:t>
            </a:r>
            <a:r>
              <a:rPr sz="1150" dirty="0" err="1">
                <a:solidFill>
                  <a:srgbClr val="475569"/>
                </a:solidFill>
                <a:latin typeface="Segoe UI"/>
              </a:rPr>
              <a:t>user_data</a:t>
            </a:r>
            <a:r>
              <a:rPr sz="1150" dirty="0">
                <a:solidFill>
                  <a:srgbClr val="475569"/>
                </a:solidFill>
                <a:latin typeface="Segoe UI"/>
              </a:rPr>
              <a:t>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dirty="0">
                <a:solidFill>
                  <a:srgbClr val="475569"/>
                </a:solidFill>
                <a:latin typeface="Segoe UI"/>
              </a:rPr>
              <a:t>CloudWatch agent publishes memory &amp; disk metrics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383280"/>
            <a:ext cx="544068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72200" y="3383280"/>
            <a:ext cx="82296" cy="2606040"/>
          </a:xfrm>
          <a:prstGeom prst="rect">
            <a:avLst/>
          </a:prstGeom>
          <a:solidFill>
            <a:srgbClr val="2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28232" y="3547872"/>
            <a:ext cx="5029200" cy="233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Segoe UI"/>
              </a:rPr>
              <a:t>Internal Monitoring Flows (stay in AWS)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VPC Flow Logs → CloudWatch Logs (via IAM role)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ALB / ASG metrics → CloudWatch Metrics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CloudWatch Alarms → SNS topic → alert email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EC2 CloudWatch agent → CWAgent namespace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F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19456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9A00"/>
                </a:solidFill>
                <a:latin typeface="Segoe UI"/>
              </a:rPr>
              <a:t>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00584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2600" b="1" dirty="0">
                <a:solidFill>
                  <a:srgbClr val="FFFFFF"/>
                </a:solidFill>
                <a:latin typeface="Segoe UI"/>
              </a:rPr>
              <a:t>Terraform </a:t>
            </a:r>
            <a:r>
              <a:rPr sz="2600" b="1" dirty="0">
                <a:solidFill>
                  <a:srgbClr val="FFFFFF"/>
                </a:solidFill>
                <a:latin typeface="Segoe UI"/>
              </a:rPr>
              <a:t>Modular </a:t>
            </a:r>
            <a:r>
              <a:rPr lang="en-IN" sz="2600" b="1" dirty="0">
                <a:solidFill>
                  <a:srgbClr val="FFFFFF"/>
                </a:solidFill>
                <a:latin typeface="Segoe UI"/>
              </a:rPr>
              <a:t>&amp; Workspace </a:t>
            </a:r>
            <a:r>
              <a:rPr sz="2600" b="1" dirty="0">
                <a:solidFill>
                  <a:srgbClr val="FFFFFF"/>
                </a:solidFill>
                <a:latin typeface="Segoe UI"/>
              </a:rPr>
              <a:t>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>
                <a:solidFill>
                  <a:srgbClr val="9CA9BD"/>
                </a:solidFill>
                <a:latin typeface="Segoe U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6118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68096" y="1792224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F7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773936"/>
            <a:ext cx="2651760" cy="4345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dirty="0">
                <a:solidFill>
                  <a:srgbClr val="0B1F3A"/>
                </a:solidFill>
                <a:latin typeface="Segoe UI"/>
              </a:rPr>
              <a:t>Networking</a:t>
            </a:r>
          </a:p>
          <a:p>
            <a:pPr algn="l">
              <a:lnSpc>
                <a:spcPct val="105000"/>
              </a:lnSpc>
            </a:pPr>
            <a:r>
              <a:rPr sz="1100" b="0" dirty="0">
                <a:solidFill>
                  <a:srgbClr val="475569"/>
                </a:solidFill>
                <a:latin typeface="Segoe UI"/>
              </a:rPr>
              <a:t>VPC, </a:t>
            </a:r>
            <a:r>
              <a:rPr lang="en-IN" sz="1100" b="0" dirty="0">
                <a:solidFill>
                  <a:srgbClr val="475569"/>
                </a:solidFill>
                <a:latin typeface="Segoe UI"/>
              </a:rPr>
              <a:t>S</a:t>
            </a:r>
            <a:r>
              <a:rPr sz="1100" b="0" dirty="0" err="1">
                <a:solidFill>
                  <a:srgbClr val="475569"/>
                </a:solidFill>
                <a:latin typeface="Segoe UI"/>
              </a:rPr>
              <a:t>ubnet</a:t>
            </a:r>
            <a:r>
              <a:rPr lang="en-IN" sz="1100" b="0" dirty="0">
                <a:solidFill>
                  <a:srgbClr val="475569"/>
                </a:solidFill>
                <a:latin typeface="Segoe UI"/>
              </a:rPr>
              <a:t>s</a:t>
            </a:r>
            <a:r>
              <a:rPr sz="1100" b="0" dirty="0">
                <a:solidFill>
                  <a:srgbClr val="475569"/>
                </a:solidFill>
                <a:latin typeface="Segoe UI"/>
              </a:rPr>
              <a:t>, </a:t>
            </a:r>
            <a:r>
              <a:rPr lang="en-IN" sz="1100" b="0" dirty="0">
                <a:solidFill>
                  <a:srgbClr val="475569"/>
                </a:solidFill>
                <a:latin typeface="Segoe UI"/>
              </a:rPr>
              <a:t>Route tables, </a:t>
            </a:r>
            <a:r>
              <a:rPr sz="1100" b="0" dirty="0">
                <a:solidFill>
                  <a:srgbClr val="475569"/>
                </a:solidFill>
                <a:latin typeface="Segoe UI"/>
              </a:rPr>
              <a:t>NAT, flow logs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36118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17136" y="1792224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1773936"/>
            <a:ext cx="265176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B1F3A"/>
                </a:solidFill>
                <a:latin typeface="Segoe UI"/>
              </a:rPr>
              <a:t>Security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475569"/>
                </a:solidFill>
                <a:latin typeface="Segoe UI"/>
              </a:rPr>
              <a:t>Security groups (ALB + web tier)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6118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66176" y="1792224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7968" y="1773936"/>
            <a:ext cx="265176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B1F3A"/>
                </a:solidFill>
                <a:latin typeface="Segoe UI"/>
              </a:rPr>
              <a:t>Load Balancer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475569"/>
                </a:solidFill>
                <a:latin typeface="Segoe UI"/>
              </a:rPr>
              <a:t>ALB and target group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26664"/>
            <a:ext cx="36118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68096" y="326440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246120"/>
            <a:ext cx="2743200" cy="612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dirty="0">
                <a:solidFill>
                  <a:srgbClr val="0B1F3A"/>
                </a:solidFill>
                <a:latin typeface="Segoe UI"/>
              </a:rPr>
              <a:t>WAF</a:t>
            </a:r>
          </a:p>
          <a:p>
            <a:pPr algn="l">
              <a:lnSpc>
                <a:spcPct val="105000"/>
              </a:lnSpc>
            </a:pPr>
            <a:r>
              <a:rPr sz="1100" b="0" dirty="0">
                <a:solidFill>
                  <a:srgbClr val="475569"/>
                </a:solidFill>
                <a:latin typeface="Segoe UI"/>
              </a:rPr>
              <a:t>Firewall for ALB + CloudFront</a:t>
            </a:r>
            <a:r>
              <a:rPr lang="en-IN" sz="1100" b="0" dirty="0">
                <a:solidFill>
                  <a:srgbClr val="475569"/>
                </a:solidFill>
                <a:latin typeface="Segoe UI"/>
              </a:rPr>
              <a:t> + API Gateway</a:t>
            </a:r>
            <a:endParaRPr sz="1100" b="0" dirty="0">
              <a:solidFill>
                <a:srgbClr val="475569"/>
              </a:solidFill>
              <a:latin typeface="Segoe U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297680" y="3026664"/>
            <a:ext cx="36118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4517136" y="326440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F7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dirty="0">
                <a:solidFill>
                  <a:srgbClr val="FFFFFF"/>
                </a:solidFill>
              </a:rPr>
              <a:t>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3246120"/>
            <a:ext cx="265176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B1F3A"/>
                </a:solidFill>
                <a:latin typeface="Segoe UI"/>
              </a:rPr>
              <a:t>CloudFront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475569"/>
                </a:solidFill>
                <a:latin typeface="Segoe UI"/>
              </a:rPr>
              <a:t>CDN in front of the ALB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026664"/>
            <a:ext cx="36118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66176" y="326440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7968" y="3246120"/>
            <a:ext cx="265176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B1F3A"/>
                </a:solidFill>
                <a:latin typeface="Segoe UI"/>
              </a:rPr>
              <a:t>API Gateway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475569"/>
                </a:solidFill>
                <a:latin typeface="Segoe UI"/>
              </a:rPr>
              <a:t>REST API proxy to ALB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498848"/>
            <a:ext cx="36118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68096" y="473659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4718304"/>
            <a:ext cx="265176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dirty="0">
                <a:solidFill>
                  <a:srgbClr val="0B1F3A"/>
                </a:solidFill>
                <a:latin typeface="Segoe UI"/>
              </a:rPr>
              <a:t>Compute</a:t>
            </a:r>
          </a:p>
          <a:p>
            <a:pPr algn="l">
              <a:lnSpc>
                <a:spcPct val="105000"/>
              </a:lnSpc>
            </a:pPr>
            <a:r>
              <a:rPr sz="1100" b="0" dirty="0">
                <a:solidFill>
                  <a:srgbClr val="475569"/>
                </a:solidFill>
                <a:latin typeface="Segoe UI"/>
              </a:rPr>
              <a:t>Launch template + Auto Scaling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4498848"/>
            <a:ext cx="36118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517136" y="473659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8928" y="4718304"/>
            <a:ext cx="265176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B1F3A"/>
                </a:solidFill>
                <a:latin typeface="Segoe UI"/>
              </a:rPr>
              <a:t>IAM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475569"/>
                </a:solidFill>
                <a:latin typeface="Segoe UI"/>
              </a:rPr>
              <a:t>Instance profiles + flow-log roles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4498848"/>
            <a:ext cx="36118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266176" y="473659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F7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87968" y="4718304"/>
            <a:ext cx="2651760" cy="4345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dirty="0">
                <a:solidFill>
                  <a:srgbClr val="0B1F3A"/>
                </a:solidFill>
                <a:latin typeface="Segoe UI"/>
              </a:rPr>
              <a:t>Monitoring</a:t>
            </a:r>
          </a:p>
          <a:p>
            <a:pPr algn="l">
              <a:lnSpc>
                <a:spcPct val="105000"/>
              </a:lnSpc>
            </a:pPr>
            <a:r>
              <a:rPr sz="1100" b="0" dirty="0">
                <a:solidFill>
                  <a:srgbClr val="475569"/>
                </a:solidFill>
                <a:latin typeface="Segoe UI"/>
              </a:rPr>
              <a:t>CloudWatch alarms + </a:t>
            </a:r>
            <a:r>
              <a:rPr lang="en-IN" sz="1100" b="0" dirty="0">
                <a:solidFill>
                  <a:srgbClr val="475569"/>
                </a:solidFill>
                <a:latin typeface="Segoe UI"/>
              </a:rPr>
              <a:t>Log groups + </a:t>
            </a:r>
            <a:r>
              <a:rPr sz="1100" b="0" dirty="0">
                <a:solidFill>
                  <a:srgbClr val="475569"/>
                </a:solidFill>
                <a:latin typeface="Segoe UI"/>
              </a:rPr>
              <a:t>SNS</a:t>
            </a:r>
          </a:p>
        </p:txBody>
      </p:sp>
      <p:sp>
        <p:nvSpPr>
          <p:cNvPr id="39" name="Rounded Rectangle 31">
            <a:extLst>
              <a:ext uri="{FF2B5EF4-FFF2-40B4-BE49-F238E27FC236}">
                <a16:creationId xmlns:a16="http://schemas.microsoft.com/office/drawing/2014/main" id="{AB046696-36F5-2762-89DF-8638DDD92F56}"/>
              </a:ext>
            </a:extLst>
          </p:cNvPr>
          <p:cNvSpPr/>
          <p:nvPr/>
        </p:nvSpPr>
        <p:spPr>
          <a:xfrm>
            <a:off x="548640" y="5933694"/>
            <a:ext cx="11109960" cy="8153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1" name="Rounded Rectangle 35">
            <a:extLst>
              <a:ext uri="{FF2B5EF4-FFF2-40B4-BE49-F238E27FC236}">
                <a16:creationId xmlns:a16="http://schemas.microsoft.com/office/drawing/2014/main" id="{244B00CA-1FAC-42A5-9E9E-2D350E2BC234}"/>
              </a:ext>
            </a:extLst>
          </p:cNvPr>
          <p:cNvSpPr/>
          <p:nvPr/>
        </p:nvSpPr>
        <p:spPr>
          <a:xfrm>
            <a:off x="768096" y="6117336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dirty="0">
                <a:solidFill>
                  <a:srgbClr val="FFFFFF"/>
                </a:solidFill>
              </a:rPr>
              <a:t>◆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8F1FC1-246F-5B8C-39B3-A862E6409C0E}"/>
              </a:ext>
            </a:extLst>
          </p:cNvPr>
          <p:cNvSpPr txBox="1"/>
          <p:nvPr/>
        </p:nvSpPr>
        <p:spPr>
          <a:xfrm>
            <a:off x="1389888" y="6145880"/>
            <a:ext cx="1001268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>
                <a:solidFill>
                  <a:srgbClr val="0B1F3A"/>
                </a:solidFill>
                <a:latin typeface="Segoe UI"/>
              </a:rPr>
              <a:t>Terraform Workspaces</a:t>
            </a:r>
          </a:p>
          <a:p>
            <a:pPr algn="l"/>
            <a:r>
              <a:rPr sz="1100" b="0" dirty="0">
                <a:solidFill>
                  <a:srgbClr val="475669"/>
                </a:solidFill>
                <a:latin typeface="Segoe UI"/>
              </a:rPr>
              <a:t>Separate </a:t>
            </a:r>
            <a:r>
              <a:rPr lang="en-IN" sz="1100" b="1" dirty="0">
                <a:solidFill>
                  <a:srgbClr val="475669"/>
                </a:solidFill>
                <a:latin typeface="Segoe UI"/>
              </a:rPr>
              <a:t>Dev</a:t>
            </a:r>
            <a:r>
              <a:rPr sz="1100" b="0" dirty="0">
                <a:solidFill>
                  <a:srgbClr val="475669"/>
                </a:solidFill>
                <a:latin typeface="Segoe UI"/>
              </a:rPr>
              <a:t> and </a:t>
            </a:r>
            <a:r>
              <a:rPr lang="en-IN" sz="1100" b="1" dirty="0">
                <a:solidFill>
                  <a:srgbClr val="475669"/>
                </a:solidFill>
                <a:latin typeface="Segoe UI"/>
              </a:rPr>
              <a:t>Prod</a:t>
            </a:r>
            <a:r>
              <a:rPr sz="1100" b="0" dirty="0">
                <a:solidFill>
                  <a:srgbClr val="475669"/>
                </a:solidFill>
                <a:latin typeface="Segoe UI"/>
              </a:rPr>
              <a:t> workspaces isolate state from a single codebase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F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19456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9A00"/>
                </a:solidFill>
                <a:latin typeface="Segoe UI"/>
              </a:rPr>
              <a:t>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00584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Segoe UI"/>
              </a:rPr>
              <a:t>Environment — Dev &amp; Prod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>
                <a:solidFill>
                  <a:srgbClr val="9CA9BD"/>
                </a:solidFill>
                <a:latin typeface="Segoe UI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3776472" cy="5486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35021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9A00"/>
                </a:solidFill>
                <a:latin typeface="Segoe UI"/>
              </a:rPr>
              <a:t>Attribute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1554480"/>
            <a:ext cx="3657600" cy="5486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7992" y="1691640"/>
            <a:ext cx="33832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dirty="0">
                <a:solidFill>
                  <a:srgbClr val="FFFFFF"/>
                </a:solidFill>
                <a:latin typeface="Segoe UI"/>
              </a:rPr>
              <a:t>Development</a:t>
            </a:r>
            <a:r>
              <a:rPr lang="en-IN" sz="1300" b="1" dirty="0">
                <a:solidFill>
                  <a:srgbClr val="FFFFFF"/>
                </a:solidFill>
                <a:latin typeface="Segoe UI"/>
              </a:rPr>
              <a:t> (dev)</a:t>
            </a:r>
            <a:endParaRPr sz="13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82712" y="1554480"/>
            <a:ext cx="3657600" cy="5486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65592" y="1691640"/>
            <a:ext cx="33832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dirty="0">
                <a:solidFill>
                  <a:srgbClr val="FFFFFF"/>
                </a:solidFill>
                <a:latin typeface="Segoe UI"/>
              </a:rPr>
              <a:t>Production</a:t>
            </a:r>
            <a:r>
              <a:rPr lang="en-IN" sz="1300" b="1" dirty="0">
                <a:solidFill>
                  <a:srgbClr val="FFFFFF"/>
                </a:solidFill>
                <a:latin typeface="Segoe UI"/>
              </a:rPr>
              <a:t> (prod)</a:t>
            </a:r>
            <a:endParaRPr sz="13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2103120"/>
            <a:ext cx="377647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231136"/>
            <a:ext cx="35021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Segoe UI"/>
              </a:rPr>
              <a:t>Project name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5112" y="2103120"/>
            <a:ext cx="3657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07992" y="2231136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egoe UI"/>
              </a:rPr>
              <a:t>paymentology-dev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82712" y="2103120"/>
            <a:ext cx="3657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65592" y="2231136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egoe UI"/>
              </a:rPr>
              <a:t>paymentology-prod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51760"/>
            <a:ext cx="3776472" cy="548640"/>
          </a:xfrm>
          <a:prstGeom prst="rect">
            <a:avLst/>
          </a:prstGeom>
          <a:solidFill>
            <a:srgbClr val="F0F3F8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2779776"/>
            <a:ext cx="35021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Segoe UI"/>
              </a:rPr>
              <a:t>VPC CIDR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5112" y="2651760"/>
            <a:ext cx="3657600" cy="548640"/>
          </a:xfrm>
          <a:prstGeom prst="rect">
            <a:avLst/>
          </a:prstGeom>
          <a:solidFill>
            <a:srgbClr val="F0F3F8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07992" y="2779776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egoe UI"/>
              </a:rPr>
              <a:t>10.20.0.0/16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82712" y="2651760"/>
            <a:ext cx="3657600" cy="548640"/>
          </a:xfrm>
          <a:prstGeom prst="rect">
            <a:avLst/>
          </a:prstGeom>
          <a:solidFill>
            <a:srgbClr val="F0F3F8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65592" y="2779776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egoe UI"/>
              </a:rPr>
              <a:t>10.30.0.0/16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200400"/>
            <a:ext cx="377647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3328416"/>
            <a:ext cx="35021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Segoe UI"/>
              </a:rPr>
              <a:t>Availability Zones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5112" y="3200400"/>
            <a:ext cx="3657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07992" y="3328416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egoe UI"/>
              </a:rPr>
              <a:t>2  (us-east-1a/b)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82712" y="3200400"/>
            <a:ext cx="3657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65592" y="3328416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egoe UI"/>
              </a:rPr>
              <a:t>3  (us-east-1a/b/c)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749040"/>
            <a:ext cx="3776472" cy="548640"/>
          </a:xfrm>
          <a:prstGeom prst="rect">
            <a:avLst/>
          </a:prstGeom>
          <a:solidFill>
            <a:srgbClr val="F0F3F8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3877056"/>
            <a:ext cx="35021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Segoe UI"/>
              </a:rPr>
              <a:t>Instance type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25112" y="3749040"/>
            <a:ext cx="3657600" cy="548640"/>
          </a:xfrm>
          <a:prstGeom prst="rect">
            <a:avLst/>
          </a:prstGeom>
          <a:solidFill>
            <a:srgbClr val="F0F3F8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07992" y="3877056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egoe UI"/>
              </a:rPr>
              <a:t>t3.micro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82712" y="3749040"/>
            <a:ext cx="3657600" cy="548640"/>
          </a:xfrm>
          <a:prstGeom prst="rect">
            <a:avLst/>
          </a:prstGeom>
          <a:solidFill>
            <a:srgbClr val="F0F3F8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65592" y="3877056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egoe UI"/>
              </a:rPr>
              <a:t>t3.micro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297680"/>
            <a:ext cx="377647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4425696"/>
            <a:ext cx="35021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Segoe UI"/>
              </a:rPr>
              <a:t>Capacity (min/desired/max)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5112" y="4297680"/>
            <a:ext cx="3657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07992" y="4425696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egoe UI"/>
              </a:rPr>
              <a:t>2 / 2 / 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82712" y="4297680"/>
            <a:ext cx="3657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65592" y="4425696"/>
            <a:ext cx="33832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200" dirty="0">
                <a:solidFill>
                  <a:srgbClr val="475569"/>
                </a:solidFill>
                <a:latin typeface="Segoe UI"/>
              </a:rPr>
              <a:t>3</a:t>
            </a:r>
            <a:r>
              <a:rPr sz="1200" b="0" dirty="0">
                <a:solidFill>
                  <a:srgbClr val="475569"/>
                </a:solidFill>
                <a:latin typeface="Segoe UI"/>
              </a:rPr>
              <a:t> / </a:t>
            </a:r>
            <a:r>
              <a:rPr lang="en-IN" sz="1200" dirty="0">
                <a:solidFill>
                  <a:srgbClr val="475569"/>
                </a:solidFill>
                <a:latin typeface="Segoe UI"/>
              </a:rPr>
              <a:t>3</a:t>
            </a:r>
            <a:r>
              <a:rPr sz="1200" b="0" dirty="0">
                <a:solidFill>
                  <a:srgbClr val="475569"/>
                </a:solidFill>
                <a:latin typeface="Segoe UI"/>
              </a:rPr>
              <a:t> / </a:t>
            </a:r>
            <a:r>
              <a:rPr lang="en-IN" sz="1200" b="0" dirty="0">
                <a:solidFill>
                  <a:srgbClr val="475569"/>
                </a:solidFill>
                <a:latin typeface="Segoe UI"/>
              </a:rPr>
              <a:t>4</a:t>
            </a:r>
            <a:endParaRPr sz="1200" b="0" dirty="0">
              <a:solidFill>
                <a:srgbClr val="475569"/>
              </a:solidFill>
              <a:latin typeface="Segoe UI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48640" y="4846320"/>
            <a:ext cx="3776472" cy="548640"/>
          </a:xfrm>
          <a:prstGeom prst="rect">
            <a:avLst/>
          </a:prstGeom>
          <a:solidFill>
            <a:srgbClr val="F0F3F8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1520" y="4974336"/>
            <a:ext cx="35021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Segoe UI"/>
              </a:rPr>
              <a:t>Database subnets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25112" y="4846320"/>
            <a:ext cx="3657600" cy="548640"/>
          </a:xfrm>
          <a:prstGeom prst="rect">
            <a:avLst/>
          </a:prstGeom>
          <a:solidFill>
            <a:srgbClr val="F0F3F8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07992" y="4974336"/>
            <a:ext cx="33832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200" b="0" dirty="0">
                <a:solidFill>
                  <a:srgbClr val="475569"/>
                </a:solidFill>
                <a:latin typeface="Segoe UI"/>
              </a:rPr>
              <a:t>Disabled but can be enabled</a:t>
            </a:r>
            <a:endParaRPr sz="1200" b="0" dirty="0">
              <a:solidFill>
                <a:srgbClr val="475569"/>
              </a:solidFill>
              <a:latin typeface="Segoe UI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982712" y="4846320"/>
            <a:ext cx="3657600" cy="548640"/>
          </a:xfrm>
          <a:prstGeom prst="rect">
            <a:avLst/>
          </a:prstGeom>
          <a:solidFill>
            <a:srgbClr val="F0F3F8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165592" y="4974336"/>
            <a:ext cx="33832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>
                <a:solidFill>
                  <a:srgbClr val="475569"/>
                </a:solidFill>
                <a:latin typeface="Segoe UI"/>
              </a:rPr>
              <a:t>Disabled but can be enabled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394960"/>
            <a:ext cx="377647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31520" y="5522976"/>
            <a:ext cx="35021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Segoe UI"/>
              </a:rPr>
              <a:t>HTTPS ingress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25112" y="5394960"/>
            <a:ext cx="3657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07992" y="5522976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egoe UI"/>
              </a:rPr>
              <a:t>Port 443 (ACM cert)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82712" y="5394960"/>
            <a:ext cx="3657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165592" y="5522976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egoe UI"/>
              </a:rPr>
              <a:t>Port 443 (ACM cert)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5989320"/>
            <a:ext cx="109728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150" b="0" dirty="0">
                <a:solidFill>
                  <a:srgbClr val="475569"/>
                </a:solidFill>
                <a:latin typeface="Segoe UI"/>
              </a:rPr>
              <a:t>Note - </a:t>
            </a:r>
            <a:r>
              <a:rPr sz="1150" b="0" dirty="0">
                <a:solidFill>
                  <a:srgbClr val="475569"/>
                </a:solidFill>
                <a:latin typeface="Segoe UI"/>
              </a:rPr>
              <a:t>Workspaces isolate state per environment while sharing the same backend</a:t>
            </a:r>
            <a:r>
              <a:rPr lang="en-IN" sz="1150" b="0" dirty="0">
                <a:solidFill>
                  <a:srgbClr val="475569"/>
                </a:solidFill>
                <a:latin typeface="Segoe UI"/>
              </a:rPr>
              <a:t> code</a:t>
            </a:r>
            <a:r>
              <a:rPr sz="1150" b="0" dirty="0">
                <a:solidFill>
                  <a:srgbClr val="475569"/>
                </a:solidFill>
                <a:latin typeface="Segoe UI"/>
              </a:rPr>
              <a:t> and module code — identical infrastructure, environment-specific sizing.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F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19456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9A00"/>
                </a:solidFill>
                <a:latin typeface="Segoe UI"/>
              </a:rPr>
              <a:t>TRUST &amp;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Segoe UI"/>
              </a:rPr>
              <a:t>Security &amp; High Availability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>
                <a:solidFill>
                  <a:srgbClr val="9CA9BD"/>
                </a:solidFill>
                <a:latin typeface="Segoe U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82296" cy="2194560"/>
          </a:xfrm>
          <a:prstGeom prst="rect">
            <a:avLst/>
          </a:prstGeom>
          <a:solidFill>
            <a:srgbClr val="FF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673352"/>
            <a:ext cx="5074920" cy="1153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0B1F3A"/>
                </a:solidFill>
                <a:latin typeface="Segoe UI"/>
              </a:rPr>
              <a:t>Defense in Depth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dirty="0">
                <a:solidFill>
                  <a:srgbClr val="475569"/>
                </a:solidFill>
                <a:latin typeface="Segoe UI"/>
              </a:rPr>
              <a:t>WAF: CloudFront (edge) + Regional (ALB)</a:t>
            </a:r>
            <a:r>
              <a:rPr lang="en-IN" sz="1150" dirty="0">
                <a:solidFill>
                  <a:srgbClr val="475569"/>
                </a:solidFill>
                <a:latin typeface="Segoe UI"/>
              </a:rPr>
              <a:t> + API Gateway</a:t>
            </a:r>
            <a:endParaRPr sz="1150" dirty="0">
              <a:solidFill>
                <a:srgbClr val="475569"/>
              </a:solidFill>
              <a:latin typeface="Segoe UI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dirty="0">
                <a:solidFill>
                  <a:srgbClr val="475569"/>
                </a:solidFill>
                <a:latin typeface="Segoe UI"/>
              </a:rPr>
              <a:t>HTTPS/TLS termination with ACM certificate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dirty="0">
                <a:solidFill>
                  <a:srgbClr val="475569"/>
                </a:solidFill>
                <a:latin typeface="Segoe UI"/>
              </a:rPr>
              <a:t>Web tier in private subnets — no public IPs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dirty="0">
                <a:solidFill>
                  <a:srgbClr val="475569"/>
                </a:solidFill>
                <a:latin typeface="Segoe UI"/>
              </a:rPr>
              <a:t>Security groups: web tier accepts ONLY ALB traffic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54406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508760"/>
            <a:ext cx="82296" cy="2194560"/>
          </a:xfrm>
          <a:prstGeom prst="rect">
            <a:avLst/>
          </a:prstGeom>
          <a:solidFill>
            <a:srgbClr val="2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1673352"/>
            <a:ext cx="5029200" cy="1153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0B1F3A"/>
                </a:solidFill>
                <a:latin typeface="Segoe UI"/>
              </a:rPr>
              <a:t>High Availability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dirty="0">
                <a:solidFill>
                  <a:srgbClr val="475569"/>
                </a:solidFill>
                <a:latin typeface="Segoe UI"/>
              </a:rPr>
              <a:t>Multi-AZ deployment (2 in Dev, 3 in Prod)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dirty="0">
                <a:solidFill>
                  <a:srgbClr val="475569"/>
                </a:solidFill>
                <a:latin typeface="Segoe UI"/>
              </a:rPr>
              <a:t>Auto Scaling Group self-heals failed instances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dirty="0">
                <a:solidFill>
                  <a:srgbClr val="475569"/>
                </a:solidFill>
                <a:latin typeface="Segoe UI"/>
              </a:rPr>
              <a:t>ALB health checks route around unhealthy hosts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IN" sz="1150" dirty="0">
                <a:solidFill>
                  <a:srgbClr val="475569"/>
                </a:solidFill>
                <a:latin typeface="Segoe UI"/>
              </a:rPr>
              <a:t>Regional </a:t>
            </a:r>
            <a:r>
              <a:rPr sz="1150" dirty="0">
                <a:solidFill>
                  <a:srgbClr val="475569"/>
                </a:solidFill>
                <a:latin typeface="Segoe UI"/>
              </a:rPr>
              <a:t>NAT Gateway </a:t>
            </a:r>
            <a:r>
              <a:rPr lang="en-IN" sz="1150" dirty="0">
                <a:solidFill>
                  <a:srgbClr val="475569"/>
                </a:solidFill>
                <a:latin typeface="Segoe UI"/>
              </a:rPr>
              <a:t>covers both AZs</a:t>
            </a:r>
            <a:r>
              <a:rPr sz="1150" dirty="0">
                <a:solidFill>
                  <a:srgbClr val="475569"/>
                </a:solidFill>
                <a:latin typeface="Segoe UI"/>
              </a:rPr>
              <a:t> for reliable egress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86200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3886200"/>
            <a:ext cx="82296" cy="2103120"/>
          </a:xfrm>
          <a:prstGeom prst="rect">
            <a:avLst/>
          </a:prstGeom>
          <a:solidFill>
            <a:srgbClr val="2F7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4050792"/>
            <a:ext cx="50749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Segoe UI"/>
              </a:rPr>
              <a:t>Governance &amp; State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Remote state in S3 (sarang-paymentology-bucket)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DynamoDB lock table prevents concurrent runs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All resources tagged (Environment, Project, ManagedBy)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Least-privilege IAM roles per function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886200"/>
            <a:ext cx="54406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3886200"/>
            <a:ext cx="82296" cy="2103120"/>
          </a:xfrm>
          <a:prstGeom prst="rect">
            <a:avLst/>
          </a:prstGeom>
          <a:solidFill>
            <a:srgbClr val="E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28232" y="4050792"/>
            <a:ext cx="50292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Segoe UI"/>
              </a:rPr>
              <a:t>Observability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VPC Flow Logs capture network activity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CloudWatch alarms on ALB, target group &amp; ASG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SNS email alerts on threshold breaches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Custom EC2 metrics via CloudWatch agent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19456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9A00"/>
                </a:solidFill>
                <a:latin typeface="Segoe UI"/>
              </a:rPr>
              <a:t>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Monitoring &amp; Alerts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>
                <a:solidFill>
                  <a:srgbClr val="9CA9BD"/>
                </a:solidFill>
                <a:latin typeface="Segoe U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475669"/>
                </a:solidFill>
                <a:latin typeface="Segoe UI"/>
              </a:rPr>
              <a:t>Full-stack observability — see it, catch it, and respond automatically before users notice.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82296" cy="2103120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1947672"/>
            <a:ext cx="5074920" cy="1828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Segoe UI"/>
              </a:rPr>
              <a:t>Metrics &amp; Dashboards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75669"/>
                </a:solidFill>
                <a:latin typeface="Segoe UI"/>
              </a:rPr>
              <a:t>CloudWatch metrics for ALB, ASG and EC2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75669"/>
                </a:solidFill>
                <a:latin typeface="Segoe UI"/>
              </a:rPr>
              <a:t>Custom EC2 metrics (memory, disk) via CloudWatch agent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75669"/>
                </a:solidFill>
                <a:latin typeface="Segoe UI"/>
              </a:rPr>
              <a:t>VPC Flow Logs give network-level visibility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75669"/>
                </a:solidFill>
                <a:latin typeface="Segoe UI"/>
              </a:rPr>
              <a:t>Centralized CloudWatch log groups per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4406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1783080"/>
            <a:ext cx="82296" cy="2103120"/>
          </a:xfrm>
          <a:prstGeom prst="rect">
            <a:avLst/>
          </a:prstGeom>
          <a:solidFill>
            <a:srgbClr val="24B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1947672"/>
            <a:ext cx="5029200" cy="1828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Segoe UI"/>
              </a:rPr>
              <a:t>Alarms &amp; Thresholds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75669"/>
                </a:solidFill>
                <a:latin typeface="Segoe UI"/>
              </a:rPr>
              <a:t>ALB 5xx errors and target response latency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75669"/>
                </a:solidFill>
                <a:latin typeface="Segoe UI"/>
              </a:rPr>
              <a:t>Target group unhealthy host count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75669"/>
                </a:solidFill>
                <a:latin typeface="Segoe UI"/>
              </a:rPr>
              <a:t>ASG CPU utilization drives scaling decisions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75669"/>
                </a:solidFill>
                <a:latin typeface="Segoe UI"/>
              </a:rPr>
              <a:t>Alarm actions trigger scaling and notifications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2336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4023360"/>
            <a:ext cx="82296" cy="2011680"/>
          </a:xfrm>
          <a:prstGeom prst="rect">
            <a:avLst/>
          </a:prstGeom>
          <a:solidFill>
            <a:srgbClr val="2F7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4187952"/>
            <a:ext cx="5074920" cy="8899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dirty="0">
                <a:solidFill>
                  <a:srgbClr val="0B1F3A"/>
                </a:solidFill>
                <a:latin typeface="Segoe UI"/>
              </a:rPr>
              <a:t>Notifications (SNS)</a:t>
            </a:r>
          </a:p>
          <a:p>
            <a:pPr algn="l">
              <a:spcAft>
                <a:spcPts val="300"/>
              </a:spcAft>
            </a:pPr>
            <a:r>
              <a:rPr sz="1150" b="0" dirty="0">
                <a:solidFill>
                  <a:srgbClr val="475669"/>
                </a:solidFill>
                <a:latin typeface="Segoe UI"/>
              </a:rPr>
              <a:t>SNS topic fans out every alarm event</a:t>
            </a:r>
          </a:p>
          <a:p>
            <a:pPr algn="l">
              <a:spcAft>
                <a:spcPts val="300"/>
              </a:spcAft>
            </a:pPr>
            <a:r>
              <a:rPr sz="1150" b="0" dirty="0">
                <a:solidFill>
                  <a:srgbClr val="475669"/>
                </a:solidFill>
                <a:latin typeface="Segoe UI"/>
              </a:rPr>
              <a:t>Email subscriptions notify the on-call team</a:t>
            </a:r>
          </a:p>
          <a:p>
            <a:pPr algn="l">
              <a:spcAft>
                <a:spcPts val="300"/>
              </a:spcAft>
            </a:pPr>
            <a:r>
              <a:rPr sz="1150" b="0" dirty="0">
                <a:solidFill>
                  <a:srgbClr val="475669"/>
                </a:solidFill>
                <a:latin typeface="Segoe UI"/>
              </a:rPr>
              <a:t>Threshold breaches paged in near real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023360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4023360"/>
            <a:ext cx="82296" cy="2011680"/>
          </a:xfrm>
          <a:prstGeom prst="rect">
            <a:avLst/>
          </a:prstGeom>
          <a:solidFill>
            <a:srgbClr val="E8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2" y="4187952"/>
            <a:ext cx="50292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Segoe UI"/>
              </a:rPr>
              <a:t>Proactive Response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75669"/>
                </a:solidFill>
                <a:latin typeface="Segoe UI"/>
              </a:rPr>
              <a:t>Auto Scaling reacts to CloudWatch alarms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75669"/>
                </a:solidFill>
                <a:latin typeface="Segoe UI"/>
              </a:rPr>
              <a:t>ALB health checks reroute around bad hosts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75669"/>
                </a:solidFill>
                <a:latin typeface="Segoe UI"/>
              </a:rPr>
              <a:t>ASG self-heals by replacing failed instances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75669"/>
                </a:solidFill>
                <a:latin typeface="Segoe UI"/>
              </a:rPr>
              <a:t>Faster MTTR through early detection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F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19456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9A00"/>
                </a:solidFill>
                <a:latin typeface="Segoe UI"/>
              </a:rPr>
              <a:t>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CI/CD Pipeline — GitHub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>
                <a:solidFill>
                  <a:srgbClr val="9CA9BD"/>
                </a:solidFill>
                <a:latin typeface="Segoe U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Segoe UI"/>
              </a:rPr>
              <a:t>Every change is validated automatically; deployments require explicit human approval through GitHub Environments.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48840"/>
            <a:ext cx="212140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2148840"/>
            <a:ext cx="2121408" cy="457200"/>
          </a:xfrm>
          <a:prstGeom prst="roundRect">
            <a:avLst/>
          </a:prstGeom>
          <a:solidFill>
            <a:srgbClr val="2F7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377440"/>
            <a:ext cx="2121408" cy="228600"/>
          </a:xfrm>
          <a:prstGeom prst="rect">
            <a:avLst/>
          </a:prstGeom>
          <a:solidFill>
            <a:srgbClr val="2F7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240280"/>
            <a:ext cx="21214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1. Init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07208"/>
            <a:ext cx="212140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475569"/>
                </a:solidFill>
                <a:latin typeface="Segoe UI"/>
              </a:rPr>
              <a:t>Download providers, configure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265176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F9A00"/>
                </a:solidFill>
                <a:latin typeface="Segoe U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2148840"/>
            <a:ext cx="212140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788920" y="2148840"/>
            <a:ext cx="2121408" cy="457200"/>
          </a:xfrm>
          <a:prstGeom prst="roundRect">
            <a:avLst/>
          </a:prstGeom>
          <a:solidFill>
            <a:srgbClr val="2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88920" y="2377440"/>
            <a:ext cx="2121408" cy="228600"/>
          </a:xfrm>
          <a:prstGeom prst="rect">
            <a:avLst/>
          </a:prstGeom>
          <a:solidFill>
            <a:srgbClr val="2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88920" y="2240280"/>
            <a:ext cx="21214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2. 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2807208"/>
            <a:ext cx="212140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475569"/>
                </a:solidFill>
                <a:latin typeface="Segoe UI"/>
              </a:rPr>
              <a:t>fmt check + terraform 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3752" y="265176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F9A00"/>
                </a:solidFill>
                <a:latin typeface="Segoe U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2148840"/>
            <a:ext cx="212140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029200" y="2148840"/>
            <a:ext cx="2121408" cy="457200"/>
          </a:xfrm>
          <a:prstGeom prst="roundRect">
            <a:avLst/>
          </a:prstGeom>
          <a:solidFill>
            <a:srgbClr val="FF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0" y="2377440"/>
            <a:ext cx="2121408" cy="228600"/>
          </a:xfrm>
          <a:prstGeom prst="rect">
            <a:avLst/>
          </a:prstGeom>
          <a:solidFill>
            <a:srgbClr val="FF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0" y="2240280"/>
            <a:ext cx="21214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3.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2807208"/>
            <a:ext cx="2121408" cy="171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dirty="0">
                <a:solidFill>
                  <a:srgbClr val="475569"/>
                </a:solidFill>
                <a:latin typeface="Segoe UI"/>
              </a:rPr>
              <a:t>Generate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265176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F9A00"/>
                </a:solidFill>
                <a:latin typeface="Segoe UI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69480" y="2148840"/>
            <a:ext cx="212140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269480" y="2148840"/>
            <a:ext cx="2121408" cy="457200"/>
          </a:xfrm>
          <a:prstGeom prst="roundRect">
            <a:avLst/>
          </a:prstGeom>
          <a:solidFill>
            <a:srgbClr val="E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269480" y="2377440"/>
            <a:ext cx="2121408" cy="228600"/>
          </a:xfrm>
          <a:prstGeom prst="rect">
            <a:avLst/>
          </a:prstGeom>
          <a:solidFill>
            <a:srgbClr val="E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69480" y="2240280"/>
            <a:ext cx="21214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4. Approval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2807208"/>
            <a:ext cx="212140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475569"/>
                </a:solidFill>
                <a:latin typeface="Segoe UI"/>
              </a:rPr>
              <a:t>Manual gate via GitHub Environment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4312" y="265176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F9A00"/>
                </a:solidFill>
                <a:latin typeface="Segoe UI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09760" y="2148840"/>
            <a:ext cx="212140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509760" y="2148840"/>
            <a:ext cx="2121408" cy="4572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509760" y="2377440"/>
            <a:ext cx="2121408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509760" y="2240280"/>
            <a:ext cx="21214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5. Apply / Destroy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2807208"/>
            <a:ext cx="212140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475569"/>
                </a:solidFill>
                <a:latin typeface="Segoe UI"/>
              </a:rPr>
              <a:t>Execute the approved plan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114800"/>
            <a:ext cx="54864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48640" y="4114800"/>
            <a:ext cx="82296" cy="1874519"/>
          </a:xfrm>
          <a:prstGeom prst="rect">
            <a:avLst/>
          </a:prstGeom>
          <a:solidFill>
            <a:srgbClr val="FF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4672" y="4279392"/>
            <a:ext cx="5074920" cy="1600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Segoe UI"/>
              </a:rPr>
              <a:t>Triggers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Pull request to dev / main → init, validate, plan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Manual dispatch → choose environment + action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main branch maps to prod, dev branch maps to dev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411480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72200" y="4114800"/>
            <a:ext cx="82296" cy="1874519"/>
          </a:xfrm>
          <a:prstGeom prst="rect">
            <a:avLst/>
          </a:prstGeom>
          <a:solidFill>
            <a:srgbClr val="2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28232" y="4279392"/>
            <a:ext cx="5029200" cy="1600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0B1F3A"/>
                </a:solidFill>
                <a:latin typeface="Segoe UI"/>
              </a:rPr>
              <a:t>Guardrails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dirty="0">
                <a:solidFill>
                  <a:srgbClr val="475569"/>
                </a:solidFill>
                <a:latin typeface="Segoe UI"/>
              </a:rPr>
              <a:t>Terraform pinned to v1.5.7 in CI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dirty="0">
                <a:solidFill>
                  <a:srgbClr val="475569"/>
                </a:solidFill>
                <a:latin typeface="Segoe UI"/>
              </a:rPr>
              <a:t>AWS credentials stored as GitHub secrets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dirty="0">
                <a:solidFill>
                  <a:srgbClr val="475569"/>
                </a:solidFill>
                <a:latin typeface="Segoe UI"/>
              </a:rPr>
              <a:t>apply &amp; destroy require environment approval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F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19456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FF9A00"/>
                </a:solidFill>
                <a:latin typeface="Segoe UI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Segoe UI"/>
              </a:rPr>
              <a:t>What Gets Delivered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>
                <a:solidFill>
                  <a:srgbClr val="9CA9BD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Segoe UI"/>
              </a:rPr>
              <a:t>After deployment, Terraform exposes ready-to-use endpoints and identifiers.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548640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965960"/>
            <a:ext cx="82296" cy="1051560"/>
          </a:xfrm>
          <a:prstGeom prst="rect">
            <a:avLst/>
          </a:prstGeom>
          <a:solidFill>
            <a:srgbClr val="FF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130552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1F3A"/>
                </a:solidFill>
                <a:latin typeface="Consolas"/>
              </a:rPr>
              <a:t>cloudfront_url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475569"/>
                </a:solidFill>
                <a:latin typeface="Segoe UI"/>
              </a:rPr>
              <a:t>Primary public HTTPS entry point for end users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65960"/>
            <a:ext cx="548640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1965960"/>
            <a:ext cx="82296" cy="1051560"/>
          </a:xfrm>
          <a:prstGeom prst="rect">
            <a:avLst/>
          </a:prstGeom>
          <a:solidFill>
            <a:srgbClr val="2F7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2130552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1F3A"/>
                </a:solidFill>
                <a:latin typeface="Consolas"/>
              </a:rPr>
              <a:t>alb_dns_name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475569"/>
                </a:solidFill>
                <a:latin typeface="Segoe UI"/>
              </a:rPr>
              <a:t>Direct DNS name of the Application Load Balancer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63824"/>
            <a:ext cx="548640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3163824"/>
            <a:ext cx="82296" cy="1051560"/>
          </a:xfrm>
          <a:prstGeom prst="rect">
            <a:avLst/>
          </a:prstGeom>
          <a:solidFill>
            <a:srgbClr val="2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328416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dirty="0" err="1">
                <a:solidFill>
                  <a:srgbClr val="0B1F3A"/>
                </a:solidFill>
                <a:latin typeface="Consolas"/>
              </a:rPr>
              <a:t>alb_https_url</a:t>
            </a:r>
            <a:endParaRPr sz="1400" b="1" dirty="0">
              <a:solidFill>
                <a:srgbClr val="0B1F3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b="0" dirty="0">
                <a:solidFill>
                  <a:srgbClr val="475569"/>
                </a:solidFill>
                <a:latin typeface="Segoe UI"/>
              </a:rPr>
              <a:t>Full HTTPS URL to the ALB (when ACM cert set)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63824"/>
            <a:ext cx="548640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3163824"/>
            <a:ext cx="82296" cy="1051560"/>
          </a:xfrm>
          <a:prstGeom prst="rect">
            <a:avLst/>
          </a:prstGeom>
          <a:solidFill>
            <a:srgbClr val="E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328416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1F3A"/>
                </a:solidFill>
                <a:latin typeface="Consolas"/>
              </a:rPr>
              <a:t>api_gateway_url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475569"/>
                </a:solidFill>
                <a:latin typeface="Segoe UI"/>
              </a:rPr>
              <a:t>Invokable REST API endpoint for API access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61688"/>
            <a:ext cx="548640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4361688"/>
            <a:ext cx="82296" cy="1051560"/>
          </a:xfrm>
          <a:prstGeom prst="rect">
            <a:avLst/>
          </a:prstGeom>
          <a:solidFill>
            <a:srgbClr val="2F7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526280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dirty="0" err="1">
                <a:solidFill>
                  <a:srgbClr val="0B1F3A"/>
                </a:solidFill>
                <a:latin typeface="Consolas"/>
              </a:rPr>
              <a:t>cloudfront_domain_name</a:t>
            </a:r>
            <a:endParaRPr sz="1400" b="1" dirty="0">
              <a:solidFill>
                <a:srgbClr val="0B1F3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b="0" dirty="0">
                <a:solidFill>
                  <a:srgbClr val="475569"/>
                </a:solidFill>
                <a:latin typeface="Segoe UI"/>
              </a:rPr>
              <a:t>CloudFront distribution domain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361688"/>
            <a:ext cx="548640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72200" y="4361688"/>
            <a:ext cx="82296" cy="1051560"/>
          </a:xfrm>
          <a:prstGeom prst="rect">
            <a:avLst/>
          </a:prstGeom>
          <a:solidFill>
            <a:srgbClr val="2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4526280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1F3A"/>
                </a:solidFill>
                <a:latin typeface="Consolas"/>
              </a:rPr>
              <a:t>vpc_id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475569"/>
                </a:solidFill>
                <a:latin typeface="Segoe UI"/>
              </a:rPr>
              <a:t>VPC identifier for peering / future resources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50800"/>
          </a:xfrm>
          <a:prstGeom prst="rect">
            <a:avLst/>
          </a:prstGeom>
          <a:solidFill>
            <a:srgbClr val="FF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457200" cy="457200"/>
          </a:xfrm>
          <a:prstGeom prst="roundRect">
            <a:avLst/>
          </a:prstGeom>
          <a:solidFill>
            <a:srgbClr val="FF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463040" y="1920240"/>
            <a:ext cx="457200" cy="457200"/>
          </a:xfrm>
          <a:prstGeom prst="roundRect">
            <a:avLst/>
          </a:prstGeom>
          <a:solidFill>
            <a:srgbClr val="2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103120" y="1920240"/>
            <a:ext cx="457200" cy="457200"/>
          </a:xfrm>
          <a:prstGeom prst="roundRect">
            <a:avLst/>
          </a:prstGeom>
          <a:solidFill>
            <a:srgbClr val="2F7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4717236"/>
            <a:ext cx="10515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400" b="1" dirty="0">
                <a:solidFill>
                  <a:srgbClr val="FF9A00"/>
                </a:solidFill>
                <a:latin typeface="Segoe UI"/>
              </a:rPr>
              <a:t> </a:t>
            </a:r>
            <a:r>
              <a:rPr sz="1400" b="1" dirty="0">
                <a:solidFill>
                  <a:srgbClr val="FF9A00"/>
                </a:solidFill>
                <a:latin typeface="Segoe U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1233</Words>
  <Application>Microsoft Office PowerPoint</Application>
  <PresentationFormat>Widescreen</PresentationFormat>
  <Paragraphs>282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Swati</dc:creator>
  <cp:keywords/>
  <dc:description>generated using python-pptx</dc:description>
  <cp:lastModifiedBy>Sarang Kolhe</cp:lastModifiedBy>
  <cp:revision>25</cp:revision>
  <dcterms:created xsi:type="dcterms:W3CDTF">2013-01-27T09:14:16Z</dcterms:created>
  <dcterms:modified xsi:type="dcterms:W3CDTF">2026-07-07T08:27:04Z</dcterms:modified>
  <cp:category/>
</cp:coreProperties>
</file>